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74" r:id="rId2"/>
    <p:sldId id="257" r:id="rId3"/>
    <p:sldId id="259" r:id="rId4"/>
    <p:sldId id="258" r:id="rId5"/>
    <p:sldId id="270" r:id="rId6"/>
    <p:sldId id="275" r:id="rId7"/>
    <p:sldId id="276" r:id="rId8"/>
    <p:sldId id="271" r:id="rId9"/>
    <p:sldId id="262" r:id="rId10"/>
    <p:sldId id="261" r:id="rId11"/>
    <p:sldId id="267" r:id="rId12"/>
    <p:sldId id="269" r:id="rId1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F94F4E-FC76-455F-9665-973C1FA01287}" v="22" dt="2026-08-05T17:27:41.20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6102" autoAdjust="0"/>
    <p:restoredTop sz="94660"/>
  </p:normalViewPr>
  <p:slideViewPr>
    <p:cSldViewPr>
      <p:cViewPr varScale="1">
        <p:scale>
          <a:sx n="100" d="100"/>
          <a:sy n="100" d="100"/>
        </p:scale>
        <p:origin x="174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FC750F-66D7-48F7-9B43-75AAE2415E40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2B3F1A-3855-498D-B01E-F14A7FC59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7617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0D96B8-8285-47D3-AA8F-EC7E0E3D26BD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67850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CC1D2-EB1C-7A97-D71C-067EF007D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7C9D73-9FFD-B424-F069-82EE5CCED6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10F1CE-F0D9-0FAA-7C6A-1B77CA490E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44416D-90A1-F770-A900-3F24A8A384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2605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B9D94-C972-D699-83F0-441FBD427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6D37C6-21DF-6D0F-EEB2-99441BCB7C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3DB754-5019-389E-6B80-AD342BBDFE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6AD77-4956-CB75-5170-3957A11EE6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2680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719192" y="572770"/>
            <a:ext cx="2753614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EEA1306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EEA1306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EEA1306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EEA1306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EEA1306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4836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47467" y="399034"/>
            <a:ext cx="7497064" cy="7042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811139" y="6474967"/>
            <a:ext cx="564514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EEA1306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04778" y="6474967"/>
            <a:ext cx="244093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2634072"/>
            <a:ext cx="10867122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800" dirty="0"/>
              <a:t>Hostel Room Allotment System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C945BB-8345-96E5-2256-98DDC7131A7F}"/>
              </a:ext>
            </a:extLst>
          </p:cNvPr>
          <p:cNvSpPr txBox="1"/>
          <p:nvPr/>
        </p:nvSpPr>
        <p:spPr>
          <a:xfrm>
            <a:off x="248095" y="4615349"/>
            <a:ext cx="409530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work Guided by,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1800" spc="-10" dirty="0">
                <a:latin typeface="Times New Roman"/>
                <a:cs typeface="Times New Roman"/>
              </a:rPr>
              <a:t>Dr.</a:t>
            </a:r>
            <a:r>
              <a:rPr lang="en-IN" spc="-45" dirty="0">
                <a:latin typeface="Times New Roman"/>
                <a:cs typeface="Times New Roman"/>
              </a:rPr>
              <a:t> B. </a:t>
            </a:r>
            <a:r>
              <a:rPr lang="en-IN" spc="-45" dirty="0" err="1">
                <a:latin typeface="Times New Roman"/>
                <a:cs typeface="Times New Roman"/>
              </a:rPr>
              <a:t>Aberna</a:t>
            </a:r>
            <a:endParaRPr lang="en-IN" sz="1800" dirty="0">
              <a:latin typeface="Times New Roman"/>
              <a:cs typeface="Times New Roman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0B4E8EE-0B02-9E32-0AEE-6F494F1A71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40ED88-E7A4-B689-C687-39338F7C1C0D}"/>
              </a:ext>
            </a:extLst>
          </p:cNvPr>
          <p:cNvSpPr txBox="1"/>
          <p:nvPr/>
        </p:nvSpPr>
        <p:spPr>
          <a:xfrm>
            <a:off x="248095" y="3521141"/>
            <a:ext cx="6533705" cy="96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Code	:   </a:t>
            </a: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CSA0209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Name	:   </a:t>
            </a: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- Programming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ACBB9D-D82F-9CC0-C554-1EDE2955CCDC}"/>
              </a:ext>
            </a:extLst>
          </p:cNvPr>
          <p:cNvSpPr txBox="1"/>
          <p:nvPr/>
        </p:nvSpPr>
        <p:spPr>
          <a:xfrm>
            <a:off x="1884218" y="1620045"/>
            <a:ext cx="8458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CAPSTONE PROJECT  PRESENTATION</a:t>
            </a:r>
          </a:p>
          <a:p>
            <a:pPr algn="ctr"/>
            <a:r>
              <a:rPr 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- 4</a:t>
            </a:r>
            <a:endParaRPr lang="en-IN" sz="3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6DBB9B-F9A8-A7F8-FA01-2D7316822109}"/>
              </a:ext>
            </a:extLst>
          </p:cNvPr>
          <p:cNvSpPr txBox="1"/>
          <p:nvPr/>
        </p:nvSpPr>
        <p:spPr>
          <a:xfrm>
            <a:off x="248095" y="5428754"/>
            <a:ext cx="4419600" cy="1289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work done by,</a:t>
            </a:r>
          </a:p>
          <a:p>
            <a:pPr>
              <a:lnSpc>
                <a:spcPct val="150000"/>
              </a:lnSpc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Murugaraj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    (192313072	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Kathiravan. R   (192313073)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19DC17-8742-9B2E-4544-951EB3D167F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11" r="4871" b="5556"/>
          <a:stretch>
            <a:fillRect/>
          </a:stretch>
        </p:blipFill>
        <p:spPr>
          <a:xfrm>
            <a:off x="6052686" y="3429000"/>
            <a:ext cx="5257800" cy="29951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7071" rIns="0" bIns="0" rtlCol="0">
            <a:spAutoFit/>
          </a:bodyPr>
          <a:lstStyle/>
          <a:p>
            <a:pPr marL="264541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ABSTRACT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7962" y="1773682"/>
            <a:ext cx="10244837" cy="3296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705" indent="-294005" algn="just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306705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Hostel room allotment is usually done manually which consumes time and may result in allocation errors. </a:t>
            </a:r>
          </a:p>
          <a:p>
            <a:pPr marL="306705" indent="-294005" algn="just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306705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automates room allocation based on hostel availability and student information.</a:t>
            </a:r>
            <a:endParaRPr lang="en-IN" sz="2400"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6705" indent="-294005" algn="just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306705" algn="l"/>
              </a:tabLst>
            </a:pPr>
            <a:r>
              <a:rPr lang="en-IN"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</a:t>
            </a:r>
            <a:r>
              <a:rPr lang="en-IN" sz="2400" spc="-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Keypoints</a:t>
            </a:r>
            <a:r>
              <a:rPr lang="en-IN"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this project,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paperwork Faster allocation Easy student management Maintains hostel records digitally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7071" rIns="0" bIns="0" rtlCol="0">
            <a:spAutoFit/>
          </a:bodyPr>
          <a:lstStyle/>
          <a:p>
            <a:pPr marL="205422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INTRODUCTION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1E317C-E061-E00C-0251-3004E26AE512}"/>
              </a:ext>
            </a:extLst>
          </p:cNvPr>
          <p:cNvSpPr txBox="1"/>
          <p:nvPr/>
        </p:nvSpPr>
        <p:spPr>
          <a:xfrm>
            <a:off x="1219200" y="1752600"/>
            <a:ext cx="10134600" cy="465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HostelHub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Hostel Room Allotment System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web-based application designed to automate the hostel room allocation process.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helps students register, apply for rooms, and check their allotment status online.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enables administrators to manage student records, room details, and room allotments efficiently.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frontend is developed using HTML, CSS, and JavaScript.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backend is developed using C programming, and SQLite is used as the database.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goal is to reduce manual work, save time, and improve the accuracy of hostel management.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100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OBJECTIVES</a:t>
            </a:r>
            <a:endParaRPr 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36220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Aims to Achieve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83920" y="23622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88392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86840" y="228600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B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Automate room allocation based on defined rules (availability, preference)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370320" y="23317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637032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73240" y="228600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B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Maintain accurate, persistent student and room records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83920" y="35661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88392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86840" y="352044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B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Provide real-time visibility into room occupancy and vacancy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370320" y="35661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637032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73240" y="352044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B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Reduce manual errors such as duplicate or conflicting allotments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83920" y="48006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883920" y="4800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86840" y="475488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B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Give admins an easy way to search, allot, and vacate rooms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370320" y="48006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6370320" y="4800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73240" y="475488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B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Generate quick reports of hostel occupancy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object 3">
            <a:extLst>
              <a:ext uri="{FF2B5EF4-FFF2-40B4-BE49-F238E27FC236}">
                <a16:creationId xmlns:a16="http://schemas.microsoft.com/office/drawing/2014/main" id="{F8C11FF1-0CB1-D468-DA2B-AC9AC7D597F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26" name="object 4">
            <a:extLst>
              <a:ext uri="{FF2B5EF4-FFF2-40B4-BE49-F238E27FC236}">
                <a16:creationId xmlns:a16="http://schemas.microsoft.com/office/drawing/2014/main" id="{BC9CC643-FCAD-50DB-82F5-C594F4359F8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20" grpId="0" animBg="1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581400" y="2926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29200" cy="1463040"/>
          </a:xfrm>
          <a:prstGeom prst="roundRect">
            <a:avLst>
              <a:gd name="adj" fmla="val 5000"/>
            </a:avLst>
          </a:prstGeom>
          <a:solidFill>
            <a:srgbClr val="F3F7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116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9385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30428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matching students to rooms takes hours and doesn't scale as intake grows.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1737360"/>
            <a:ext cx="5029200" cy="1463040"/>
          </a:xfrm>
          <a:prstGeom prst="roundRect">
            <a:avLst>
              <a:gd name="adj" fmla="val 5000"/>
            </a:avLst>
          </a:prstGeom>
          <a:solidFill>
            <a:srgbClr val="F3F7F6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20116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0" y="19385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Error-Prone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0" y="230428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allotments, double bookings, and lost registers are common with paper records.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5029200" cy="1463040"/>
          </a:xfrm>
          <a:prstGeom prst="roundRect">
            <a:avLst>
              <a:gd name="adj" fmla="val 5000"/>
            </a:avLst>
          </a:prstGeom>
          <a:solidFill>
            <a:srgbClr val="F3F7F6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37490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67588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View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404164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Wardens can't instantly see which rooms are vacant, full, or reserved.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0" y="3474720"/>
            <a:ext cx="5029200" cy="1463040"/>
          </a:xfrm>
          <a:prstGeom prst="roundRect">
            <a:avLst>
              <a:gd name="adj" fmla="val 5000"/>
            </a:avLst>
          </a:prstGeom>
          <a:solidFill>
            <a:srgbClr val="F3F7F6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0" y="37490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58000" y="367588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Audit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58000" y="404164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who stayed where, and for how long, is difficult without digital records.</a:t>
            </a:r>
            <a:endParaRPr lang="en-US" sz="1200" dirty="0"/>
          </a:p>
        </p:txBody>
      </p:sp>
      <p:pic>
        <p:nvPicPr>
          <p:cNvPr id="26" name="object 4">
            <a:extLst>
              <a:ext uri="{FF2B5EF4-FFF2-40B4-BE49-F238E27FC236}">
                <a16:creationId xmlns:a16="http://schemas.microsoft.com/office/drawing/2014/main" id="{3FE3F039-61C9-523B-D355-30B926DE9FD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28" name="object 5">
            <a:extLst>
              <a:ext uri="{FF2B5EF4-FFF2-40B4-BE49-F238E27FC236}">
                <a16:creationId xmlns:a16="http://schemas.microsoft.com/office/drawing/2014/main" id="{C594632D-6D12-99B9-257F-D2E5DA5CEA5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18B1BC4-0543-DFA5-CE0D-D412C150A3F4}"/>
              </a:ext>
            </a:extLst>
          </p:cNvPr>
          <p:cNvSpPr txBox="1"/>
          <p:nvPr/>
        </p:nvSpPr>
        <p:spPr>
          <a:xfrm>
            <a:off x="274320" y="4953000"/>
            <a:ext cx="11155680" cy="1704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Hostel room allocation in many colleges is still performed manually, leading to delays, allocation errors, duplicate assignments, and difficulty in managing room availability.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automated Hostel Room Allotment System is needed to efficiently manage student records, allocate rooms, track vacancies, and maintain accurate hostel information while reducing manual effort and improving overall efficiency.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56C80-3167-FBA0-C3C4-9155A2D55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A59C6B39-4D36-35B8-AC22-0D93F39DF6DC}"/>
              </a:ext>
            </a:extLst>
          </p:cNvPr>
          <p:cNvSpPr/>
          <p:nvPr/>
        </p:nvSpPr>
        <p:spPr>
          <a:xfrm>
            <a:off x="4854523" y="319359"/>
            <a:ext cx="325247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</a:rPr>
              <a:t>MODULE - 1</a:t>
            </a:r>
            <a:endParaRPr lang="en-US" sz="3200" dirty="0"/>
          </a:p>
        </p:txBody>
      </p:sp>
      <p:pic>
        <p:nvPicPr>
          <p:cNvPr id="26" name="object 4">
            <a:extLst>
              <a:ext uri="{FF2B5EF4-FFF2-40B4-BE49-F238E27FC236}">
                <a16:creationId xmlns:a16="http://schemas.microsoft.com/office/drawing/2014/main" id="{BCB447BD-4D9B-20ED-BF83-CDD7756A06B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28" name="object 5">
            <a:extLst>
              <a:ext uri="{FF2B5EF4-FFF2-40B4-BE49-F238E27FC236}">
                <a16:creationId xmlns:a16="http://schemas.microsoft.com/office/drawing/2014/main" id="{84A7BFD7-FB64-993C-53DF-5B9C21266D1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D668EC81-7861-6D03-208D-7577F22C7958}"/>
              </a:ext>
            </a:extLst>
          </p:cNvPr>
          <p:cNvSpPr/>
          <p:nvPr/>
        </p:nvSpPr>
        <p:spPr>
          <a:xfrm>
            <a:off x="1295400" y="1597533"/>
            <a:ext cx="3886200" cy="503186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designing webpages.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page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 selection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0AB8FBB2-8A44-25EF-032C-32881D1D922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000" r="1755" b="5555"/>
          <a:stretch>
            <a:fillRect/>
          </a:stretch>
        </p:blipFill>
        <p:spPr>
          <a:xfrm>
            <a:off x="5486400" y="2057400"/>
            <a:ext cx="58674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549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476DF-5273-1C96-3A45-12AD3BC3B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BADF08BA-DEC0-241D-DB71-AF3DB61CAA9B}"/>
              </a:ext>
            </a:extLst>
          </p:cNvPr>
          <p:cNvSpPr/>
          <p:nvPr/>
        </p:nvSpPr>
        <p:spPr>
          <a:xfrm>
            <a:off x="4854523" y="319359"/>
            <a:ext cx="325247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</a:rPr>
              <a:t>MODULE - 2</a:t>
            </a:r>
            <a:endParaRPr lang="en-US" sz="3200" dirty="0"/>
          </a:p>
        </p:txBody>
      </p:sp>
      <p:pic>
        <p:nvPicPr>
          <p:cNvPr id="26" name="object 4">
            <a:extLst>
              <a:ext uri="{FF2B5EF4-FFF2-40B4-BE49-F238E27FC236}">
                <a16:creationId xmlns:a16="http://schemas.microsoft.com/office/drawing/2014/main" id="{A5ED0483-9FDF-D9B0-CED2-2A516534B51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28" name="object 5">
            <a:extLst>
              <a:ext uri="{FF2B5EF4-FFF2-40B4-BE49-F238E27FC236}">
                <a16:creationId xmlns:a16="http://schemas.microsoft.com/office/drawing/2014/main" id="{E461C438-D4F4-3EFE-B85D-9B575CC2290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DB449C08-567A-BBEA-F151-7D9D6A560131}"/>
              </a:ext>
            </a:extLst>
          </p:cNvPr>
          <p:cNvSpPr/>
          <p:nvPr/>
        </p:nvSpPr>
        <p:spPr>
          <a:xfrm>
            <a:off x="1371600" y="1544873"/>
            <a:ext cx="3886200" cy="503186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Entire backend is written in C Programming.</a:t>
            </a:r>
          </a:p>
          <a:p>
            <a:pPr algn="ctr">
              <a:lnSpc>
                <a:spcPct val="150000"/>
              </a:lnSpc>
            </a:pP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 requests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data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database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Authenticate users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 rooms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responses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7BE264-FB06-72A6-3DD3-18D76944900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000" r="2927" b="6666"/>
          <a:stretch>
            <a:fillRect/>
          </a:stretch>
        </p:blipFill>
        <p:spPr>
          <a:xfrm>
            <a:off x="5562600" y="1524000"/>
            <a:ext cx="5562600" cy="26860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E3B4F4-78EE-F0E8-D67E-92A3BE06B96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24" t="11111" r="1303" b="6666"/>
          <a:stretch>
            <a:fillRect/>
          </a:stretch>
        </p:blipFill>
        <p:spPr>
          <a:xfrm>
            <a:off x="5839383" y="4304665"/>
            <a:ext cx="5009034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106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 DESIGN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object 3">
            <a:extLst>
              <a:ext uri="{FF2B5EF4-FFF2-40B4-BE49-F238E27FC236}">
                <a16:creationId xmlns:a16="http://schemas.microsoft.com/office/drawing/2014/main" id="{B1040B8A-5494-3568-2E7A-BF5D020C6F6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22" name="object 4">
            <a:extLst>
              <a:ext uri="{FF2B5EF4-FFF2-40B4-BE49-F238E27FC236}">
                <a16:creationId xmlns:a16="http://schemas.microsoft.com/office/drawing/2014/main" id="{57EA231A-54A5-B43C-158F-8AE75A1431C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B5B083B9-7CC8-9DE4-C539-6D1848875F83}"/>
              </a:ext>
            </a:extLst>
          </p:cNvPr>
          <p:cNvSpPr/>
          <p:nvPr/>
        </p:nvSpPr>
        <p:spPr>
          <a:xfrm>
            <a:off x="4457700" y="1219200"/>
            <a:ext cx="1752600" cy="9144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79E22E0E-2157-E49E-CD30-F8F592796B13}"/>
              </a:ext>
            </a:extLst>
          </p:cNvPr>
          <p:cNvSpPr/>
          <p:nvPr/>
        </p:nvSpPr>
        <p:spPr>
          <a:xfrm>
            <a:off x="1219200" y="2362200"/>
            <a:ext cx="2286000" cy="762000"/>
          </a:xfrm>
          <a:prstGeom prst="snip2DiagRect">
            <a:avLst/>
          </a:prstGeom>
          <a:solidFill>
            <a:srgbClr val="FFFF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USER (STUDENT/ADMIN)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4" name="Rectangle: Top Corners Snipped 3">
            <a:extLst>
              <a:ext uri="{FF2B5EF4-FFF2-40B4-BE49-F238E27FC236}">
                <a16:creationId xmlns:a16="http://schemas.microsoft.com/office/drawing/2014/main" id="{94D0C3FF-E9EF-124E-BC8F-99FE40B2E042}"/>
              </a:ext>
            </a:extLst>
          </p:cNvPr>
          <p:cNvSpPr/>
          <p:nvPr/>
        </p:nvSpPr>
        <p:spPr>
          <a:xfrm>
            <a:off x="1143000" y="3733801"/>
            <a:ext cx="2438400" cy="762000"/>
          </a:xfrm>
          <a:prstGeom prst="snip2Same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LOGIN/REGISTRATION</a:t>
            </a:r>
            <a:endParaRPr lang="en-IN" b="1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5DFD8D1-868A-5892-F6EF-D1F2AE5EE63C}"/>
              </a:ext>
            </a:extLst>
          </p:cNvPr>
          <p:cNvSpPr/>
          <p:nvPr/>
        </p:nvSpPr>
        <p:spPr>
          <a:xfrm>
            <a:off x="7315200" y="2286000"/>
            <a:ext cx="1981200" cy="914400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FRONTEND (HTML, CSS, JS)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82AC367-7B7F-0203-5183-669BBD115016}"/>
              </a:ext>
            </a:extLst>
          </p:cNvPr>
          <p:cNvSpPr/>
          <p:nvPr/>
        </p:nvSpPr>
        <p:spPr>
          <a:xfrm>
            <a:off x="7322127" y="3882736"/>
            <a:ext cx="1981200" cy="914400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BACKEND 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(C PROGRAM)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59C706D6-1869-FB37-DC23-7A49E3AA65F0}"/>
              </a:ext>
            </a:extLst>
          </p:cNvPr>
          <p:cNvSpPr/>
          <p:nvPr/>
        </p:nvSpPr>
        <p:spPr>
          <a:xfrm>
            <a:off x="10058400" y="3581400"/>
            <a:ext cx="1828800" cy="914400"/>
          </a:xfrm>
          <a:prstGeom prst="round2Same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SQLite Database Access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2D40850-F741-8B64-2790-5256DD369748}"/>
              </a:ext>
            </a:extLst>
          </p:cNvPr>
          <p:cNvCxnSpPr>
            <a:stCxn id="3" idx="2"/>
            <a:endCxn id="15" idx="3"/>
          </p:cNvCxnSpPr>
          <p:nvPr/>
        </p:nvCxnSpPr>
        <p:spPr>
          <a:xfrm flipH="1">
            <a:off x="2362200" y="1676400"/>
            <a:ext cx="2095500" cy="6858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39B08AC-CAD0-5A9C-E42A-E0018C78BCCB}"/>
              </a:ext>
            </a:extLst>
          </p:cNvPr>
          <p:cNvCxnSpPr>
            <a:stCxn id="3" idx="6"/>
            <a:endCxn id="5" idx="0"/>
          </p:cNvCxnSpPr>
          <p:nvPr/>
        </p:nvCxnSpPr>
        <p:spPr>
          <a:xfrm>
            <a:off x="6210300" y="1676400"/>
            <a:ext cx="2095500" cy="609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FCE058E-2AC7-FC1B-072B-D8D2BDDE3ACB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8305800" y="3200400"/>
            <a:ext cx="6927" cy="6823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132994E5-4920-66A0-A58E-015A23AE2B13}"/>
              </a:ext>
            </a:extLst>
          </p:cNvPr>
          <p:cNvCxnSpPr>
            <a:stCxn id="7" idx="2"/>
            <a:endCxn id="8" idx="1"/>
          </p:cNvCxnSpPr>
          <p:nvPr/>
        </p:nvCxnSpPr>
        <p:spPr>
          <a:xfrm rot="5400000" flipH="1" flipV="1">
            <a:off x="9492095" y="3316431"/>
            <a:ext cx="301336" cy="2660073"/>
          </a:xfrm>
          <a:prstGeom prst="bentConnector3">
            <a:avLst>
              <a:gd name="adj1" fmla="val -75862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B230CB1-E696-1F04-C489-B86E6D9EC950}"/>
              </a:ext>
            </a:extLst>
          </p:cNvPr>
          <p:cNvCxnSpPr>
            <a:stCxn id="15" idx="1"/>
            <a:endCxn id="4" idx="3"/>
          </p:cNvCxnSpPr>
          <p:nvPr/>
        </p:nvCxnSpPr>
        <p:spPr>
          <a:xfrm>
            <a:off x="2362200" y="3124200"/>
            <a:ext cx="0" cy="6096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F6100E9B-9C62-B8C4-263F-35E113D91292}"/>
              </a:ext>
            </a:extLst>
          </p:cNvPr>
          <p:cNvSpPr/>
          <p:nvPr/>
        </p:nvSpPr>
        <p:spPr>
          <a:xfrm>
            <a:off x="4457700" y="5587365"/>
            <a:ext cx="1752600" cy="9144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END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7E8CDCBF-5158-1781-210B-54F284E7C9A7}"/>
              </a:ext>
            </a:extLst>
          </p:cNvPr>
          <p:cNvCxnSpPr>
            <a:stCxn id="4" idx="1"/>
            <a:endCxn id="16" idx="2"/>
          </p:cNvCxnSpPr>
          <p:nvPr/>
        </p:nvCxnSpPr>
        <p:spPr>
          <a:xfrm rot="16200000" flipH="1">
            <a:off x="2635568" y="4222433"/>
            <a:ext cx="1548764" cy="2095500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91C30EF4-F0F9-8671-E567-E57CFDB793C7}"/>
              </a:ext>
            </a:extLst>
          </p:cNvPr>
          <p:cNvCxnSpPr>
            <a:stCxn id="8" idx="1"/>
            <a:endCxn id="16" idx="6"/>
          </p:cNvCxnSpPr>
          <p:nvPr/>
        </p:nvCxnSpPr>
        <p:spPr>
          <a:xfrm rot="5400000">
            <a:off x="7817168" y="2888932"/>
            <a:ext cx="1548765" cy="4762500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1960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CORE LOGIC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97180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Structures &amp; Allotment 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1B2B2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74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student.h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4937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Student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id;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 name[50];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 course[20];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roomAllotted;   // 0 = not allotted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Room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roomNo;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capacity;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occupied;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studentIds[4];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26364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66560" y="17373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submits request via frontend form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46520" y="2148840"/>
            <a:ext cx="0" cy="457200"/>
          </a:xfrm>
          <a:prstGeom prst="line">
            <a:avLst/>
          </a:prstGeom>
          <a:noFill/>
          <a:ln w="19050">
            <a:solidFill>
              <a:srgbClr val="C9D6D4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6263640" y="260604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66560" y="256032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backend checks room capacity vs occupied count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46520" y="2971800"/>
            <a:ext cx="0" cy="457200"/>
          </a:xfrm>
          <a:prstGeom prst="line">
            <a:avLst/>
          </a:prstGeom>
          <a:noFill/>
          <a:ln w="19050">
            <a:solidFill>
              <a:srgbClr val="C9D6D4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263640" y="342900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66560" y="338328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space available, room is allotted and record updated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46520" y="3794760"/>
            <a:ext cx="0" cy="457200"/>
          </a:xfrm>
          <a:prstGeom prst="line">
            <a:avLst/>
          </a:prstGeom>
          <a:noFill/>
          <a:ln w="19050">
            <a:solidFill>
              <a:srgbClr val="C9D6D4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263640" y="425196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4251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66560" y="420624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full, backend returns next available room or waitlist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46520" y="4617720"/>
            <a:ext cx="0" cy="457200"/>
          </a:xfrm>
          <a:prstGeom prst="line">
            <a:avLst/>
          </a:prstGeom>
          <a:noFill/>
          <a:ln w="19050">
            <a:solidFill>
              <a:srgbClr val="C9D6D4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263640" y="507492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5074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66560" y="502920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and student files are updated on disk</a:t>
            </a:r>
            <a:endParaRPr lang="en-US" sz="1250" dirty="0"/>
          </a:p>
        </p:txBody>
      </p:sp>
      <p:pic>
        <p:nvPicPr>
          <p:cNvPr id="28" name="object 3">
            <a:extLst>
              <a:ext uri="{FF2B5EF4-FFF2-40B4-BE49-F238E27FC236}">
                <a16:creationId xmlns:a16="http://schemas.microsoft.com/office/drawing/2014/main" id="{297BE601-485A-F25E-B24C-F5E175EED05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30" name="object 4">
            <a:extLst>
              <a:ext uri="{FF2B5EF4-FFF2-40B4-BE49-F238E27FC236}">
                <a16:creationId xmlns:a16="http://schemas.microsoft.com/office/drawing/2014/main" id="{561135F8-D867-4FA7-4EDB-0E887CB04EE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580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FEATURES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41960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Modules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3F7F6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116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Registration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99008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student ID, name, course, and preferences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06240" y="178308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3F7F6"/>
          </a:solidFill>
          <a:ln/>
        </p:spPr>
      </p:sp>
      <p:sp>
        <p:nvSpPr>
          <p:cNvPr id="10" name="Shape 8"/>
          <p:cNvSpPr/>
          <p:nvPr/>
        </p:nvSpPr>
        <p:spPr>
          <a:xfrm>
            <a:off x="4434840" y="20116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34840" y="26517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Allotment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34840" y="299008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rooms based on availability and rules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863840" y="178308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3F7F6"/>
          </a:solidFill>
          <a:ln/>
        </p:spPr>
      </p:sp>
      <p:sp>
        <p:nvSpPr>
          <p:cNvPr id="15" name="Shape 13"/>
          <p:cNvSpPr/>
          <p:nvPr/>
        </p:nvSpPr>
        <p:spPr>
          <a:xfrm>
            <a:off x="8092440" y="20116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809244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092440" y="26517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Vacate / De-allot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92440" y="299008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 up a room and updates records instantly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3F7F6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39319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77240" y="45720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91032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Login-protected view for wardens/admin staff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06240" y="370332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3F7F6"/>
          </a:solidFill>
          <a:ln/>
        </p:spPr>
      </p:sp>
      <p:sp>
        <p:nvSpPr>
          <p:cNvPr id="25" name="Shape 23"/>
          <p:cNvSpPr/>
          <p:nvPr/>
        </p:nvSpPr>
        <p:spPr>
          <a:xfrm>
            <a:off x="4434840" y="39319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443484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434840" y="45720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Records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434840" y="491032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a student's room or a room's occupant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863840" y="370332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3F7F6"/>
          </a:solidFill>
          <a:ln/>
        </p:spPr>
      </p:sp>
      <p:sp>
        <p:nvSpPr>
          <p:cNvPr id="30" name="Shape 28"/>
          <p:cNvSpPr/>
          <p:nvPr/>
        </p:nvSpPr>
        <p:spPr>
          <a:xfrm>
            <a:off x="8092440" y="39319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092440" y="45720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092440" y="491032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occupancy list and vacant room summary</a:t>
            </a:r>
            <a:endParaRPr lang="en-US" sz="1050" dirty="0"/>
          </a:p>
        </p:txBody>
      </p:sp>
      <p:pic>
        <p:nvPicPr>
          <p:cNvPr id="36" name="object 3">
            <a:extLst>
              <a:ext uri="{FF2B5EF4-FFF2-40B4-BE49-F238E27FC236}">
                <a16:creationId xmlns:a16="http://schemas.microsoft.com/office/drawing/2014/main" id="{60806EF8-BAE8-90BF-D491-65B67A45F9F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38" name="object 4">
            <a:extLst>
              <a:ext uri="{FF2B5EF4-FFF2-40B4-BE49-F238E27FC236}">
                <a16:creationId xmlns:a16="http://schemas.microsoft.com/office/drawing/2014/main" id="{F76D7F95-3489-4BB6-0DDB-59049DEC97C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645920"/>
            <a:ext cx="3657600" cy="365760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389120" y="533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CONCLUSION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89344" y="2293620"/>
            <a:ext cx="9144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faster, more reliable way</a:t>
            </a:r>
            <a:endParaRPr lang="en-US" sz="3400" dirty="0">
              <a:solidFill>
                <a:schemeClr val="tx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manage hostel rooms</a:t>
            </a:r>
            <a:endParaRPr lang="en-US" sz="3400" dirty="0">
              <a:solidFill>
                <a:schemeClr val="tx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384048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combining C's speed and control on the backend with a simple web frontend, this system automates allotment, cuts manual errors, and keeps hostel records accurate and accessible.</a:t>
            </a:r>
            <a:endParaRPr lang="en-US" sz="1350" dirty="0">
              <a:solidFill>
                <a:schemeClr val="tx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6C10D76-7C2F-2FE5-FBC6-DE029AB15C8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3124200" y="-4068"/>
            <a:ext cx="6248400" cy="6862068"/>
          </a:xfrm>
          <a:prstGeom prst="rect">
            <a:avLst/>
          </a:prstGeom>
        </p:spPr>
      </p:pic>
      <p:pic>
        <p:nvPicPr>
          <p:cNvPr id="10" name="object 2">
            <a:extLst>
              <a:ext uri="{FF2B5EF4-FFF2-40B4-BE49-F238E27FC236}">
                <a16:creationId xmlns:a16="http://schemas.microsoft.com/office/drawing/2014/main" id="{C33A7D3D-0226-8190-2508-9CF1B6A7579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600" y="501015"/>
            <a:ext cx="1135773" cy="1343025"/>
          </a:xfrm>
          <a:prstGeom prst="rect">
            <a:avLst/>
          </a:prstGeom>
        </p:spPr>
      </p:pic>
      <p:pic>
        <p:nvPicPr>
          <p:cNvPr id="12" name="object 3">
            <a:extLst>
              <a:ext uri="{FF2B5EF4-FFF2-40B4-BE49-F238E27FC236}">
                <a16:creationId xmlns:a16="http://schemas.microsoft.com/office/drawing/2014/main" id="{6B8F2F16-5563-528D-D221-F783F7899F9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62209" y="393700"/>
            <a:ext cx="1527809" cy="134912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01015"/>
            <a:ext cx="1135773" cy="13430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62209" y="393700"/>
            <a:ext cx="1527809" cy="134912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25954" y="2056129"/>
            <a:ext cx="7806182" cy="37064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215</TotalTime>
  <Words>712</Words>
  <Application>Microsoft Office PowerPoint</Application>
  <PresentationFormat>Widescreen</PresentationFormat>
  <Paragraphs>143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Arial MT</vt:lpstr>
      <vt:lpstr>Calibri</vt:lpstr>
      <vt:lpstr>Cambria</vt:lpstr>
      <vt:lpstr>Courier New</vt:lpstr>
      <vt:lpstr>Times New Roman</vt:lpstr>
      <vt:lpstr>Office Theme</vt:lpstr>
      <vt:lpstr>Hostel Room Allotment System</vt:lpstr>
      <vt:lpstr>ABSTRACT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Kathiravan</dc:creator>
  <cp:lastModifiedBy>Kathiravan R</cp:lastModifiedBy>
  <cp:revision>3</cp:revision>
  <dcterms:created xsi:type="dcterms:W3CDTF">2026-07-21T15:26:33Z</dcterms:created>
  <dcterms:modified xsi:type="dcterms:W3CDTF">2026-08-06T04:31:44Z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2025-11-27T00:00:00Z</vt:filetime>
  </property>
  <property fmtid="{D5CDD505-2E9C-101B-9397-08002B2CF9AE}" pid="4" name="Creator">
    <vt:lpwstr>Microsoft® Word 2019</vt:lpwstr>
  </property>
  <property fmtid="{D5CDD505-2E9C-101B-9397-08002B2CF9AE}" pid="5" name="LastSaved">
    <vt:filetime>2026-07-21T00:00:00Z</vt:filetime>
  </property>
  <property fmtid="{D5CDD505-2E9C-101B-9397-08002B2CF9AE}" pid="6" name="Producer">
    <vt:lpwstr>Microsoft® Word 2019</vt:lpwstr>
  </property>
</Properties>
</file>